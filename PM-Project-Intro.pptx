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5859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qifenghou/Codes/PM-Project/.tmp/cover-bg.jp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D4F8B">
              <a:alpha val="3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1A8FBF">
              <a:alpha val="2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731520" y="155448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731520" y="1737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驱动的产品经理工作台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31520" y="2651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从灵感到开发的全链路自动化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PM-Project  |  基于 GitHub Copilot 自定义 Agent &amp; Skill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产品经理面临的挑战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4008" cy="1554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087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灵感评估靠直觉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34440" y="1828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缺乏数据支撑，立项决策全凭经验，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容易做重复或无价值的需求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23444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4754880" y="1234440"/>
            <a:ext cx="64008" cy="1554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50876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手写耗时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532120" y="1828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逐章节填写、格式不统一，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反复修改导致交付周期长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1546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1"/>
          <p:cNvSpPr/>
          <p:nvPr/>
        </p:nvSpPr>
        <p:spPr>
          <a:xfrm>
            <a:off x="457200" y="3154680"/>
            <a:ext cx="64008" cy="1554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42900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竞品调研散乱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234440" y="3749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信息来源分散、无标准流程，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调研结果无法沉淀复用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31546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5"/>
          <p:cNvSpPr/>
          <p:nvPr/>
        </p:nvSpPr>
        <p:spPr>
          <a:xfrm>
            <a:off x="4754880" y="3154680"/>
            <a:ext cx="64008" cy="1554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42900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→ 开发断链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532120" y="3749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需求到架构、任务拆分全靠人工，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关键信息在流转中丢失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端到端自动化流水线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25780" y="1371600"/>
            <a:ext cx="12344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25780" y="1371600"/>
            <a:ext cx="123444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0" y="16002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194560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780" y="2697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立项验证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780" y="30175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PM-assistant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508" y="2313432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897380" y="1371600"/>
            <a:ext cx="12344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1897380" y="1371600"/>
            <a:ext cx="1234440" cy="73152"/>
          </a:xfrm>
          <a:prstGeom prst="rect">
            <a:avLst/>
          </a:prstGeom>
          <a:solidFill>
            <a:srgbClr val="0D4F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0"/>
          <p:cNvSpPr/>
          <p:nvPr/>
        </p:nvSpPr>
        <p:spPr>
          <a:xfrm>
            <a:off x="2286000" y="1600200"/>
            <a:ext cx="457200" cy="457200"/>
          </a:xfrm>
          <a:prstGeom prst="ellipse">
            <a:avLst/>
          </a:prstGeom>
          <a:solidFill>
            <a:srgbClr val="0D4F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/>
          <p:cNvSpPr/>
          <p:nvPr/>
        </p:nvSpPr>
        <p:spPr>
          <a:xfrm>
            <a:off x="22860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3432" y="2194560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97380" y="2697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生成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897380" y="30175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requirement-doc</a:t>
            </a:r>
            <a:endParaRPr lang="en-US" sz="9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0108" y="2313432"/>
            <a:ext cx="201168" cy="2011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268980" y="1371600"/>
            <a:ext cx="12344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5"/>
          <p:cNvSpPr/>
          <p:nvPr/>
        </p:nvSpPr>
        <p:spPr>
          <a:xfrm>
            <a:off x="3268980" y="1371600"/>
            <a:ext cx="123444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6"/>
          <p:cNvSpPr/>
          <p:nvPr/>
        </p:nvSpPr>
        <p:spPr>
          <a:xfrm>
            <a:off x="3657600" y="16002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7"/>
          <p:cNvSpPr/>
          <p:nvPr/>
        </p:nvSpPr>
        <p:spPr>
          <a:xfrm>
            <a:off x="36576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5032" y="2194560"/>
            <a:ext cx="402336" cy="40233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268980" y="2697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高保真原型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3268980" y="30175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9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708" y="2313432"/>
            <a:ext cx="201168" cy="201168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640580" y="1371600"/>
            <a:ext cx="12344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1"/>
          <p:cNvSpPr/>
          <p:nvPr/>
        </p:nvSpPr>
        <p:spPr>
          <a:xfrm>
            <a:off x="4640580" y="1371600"/>
            <a:ext cx="123444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2"/>
          <p:cNvSpPr/>
          <p:nvPr/>
        </p:nvSpPr>
        <p:spPr>
          <a:xfrm>
            <a:off x="5029200" y="16002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3"/>
          <p:cNvSpPr/>
          <p:nvPr/>
        </p:nvSpPr>
        <p:spPr>
          <a:xfrm>
            <a:off x="5029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6632" y="2194560"/>
            <a:ext cx="402336" cy="40233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640580" y="2697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架构设计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4640580" y="30175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9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308" y="2313432"/>
            <a:ext cx="201168" cy="201168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6012180" y="1371600"/>
            <a:ext cx="12344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27"/>
          <p:cNvSpPr/>
          <p:nvPr/>
        </p:nvSpPr>
        <p:spPr>
          <a:xfrm>
            <a:off x="6012180" y="1371600"/>
            <a:ext cx="1234440" cy="73152"/>
          </a:xfrm>
          <a:prstGeom prst="rect">
            <a:avLst/>
          </a:prstGeom>
          <a:solidFill>
            <a:srgbClr val="1A8FB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28"/>
          <p:cNvSpPr/>
          <p:nvPr/>
        </p:nvSpPr>
        <p:spPr>
          <a:xfrm>
            <a:off x="6400800" y="1600200"/>
            <a:ext cx="457200" cy="457200"/>
          </a:xfrm>
          <a:prstGeom prst="ellipse">
            <a:avLst/>
          </a:prstGeom>
          <a:solidFill>
            <a:srgbClr val="1A8FB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29"/>
          <p:cNvSpPr/>
          <p:nvPr/>
        </p:nvSpPr>
        <p:spPr>
          <a:xfrm>
            <a:off x="6400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8232" y="2194560"/>
            <a:ext cx="402336" cy="402336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012180" y="2697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任务拆分</a:t>
            </a:r>
            <a:endParaRPr lang="en-US" sz="1300" dirty="0"/>
          </a:p>
        </p:txBody>
      </p:sp>
      <p:sp>
        <p:nvSpPr>
          <p:cNvPr id="42" name="Text 31"/>
          <p:cNvSpPr/>
          <p:nvPr/>
        </p:nvSpPr>
        <p:spPr>
          <a:xfrm>
            <a:off x="6012180" y="30175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req-to-issues</a:t>
            </a:r>
            <a:endParaRPr lang="en-US" sz="900" dirty="0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908" y="2313432"/>
            <a:ext cx="201168" cy="201168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7383780" y="1371600"/>
            <a:ext cx="12344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33"/>
          <p:cNvSpPr/>
          <p:nvPr/>
        </p:nvSpPr>
        <p:spPr>
          <a:xfrm>
            <a:off x="7383780" y="1371600"/>
            <a:ext cx="1234440" cy="73152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34"/>
          <p:cNvSpPr/>
          <p:nvPr/>
        </p:nvSpPr>
        <p:spPr>
          <a:xfrm>
            <a:off x="7772400" y="1600200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35"/>
          <p:cNvSpPr/>
          <p:nvPr/>
        </p:nvSpPr>
        <p:spPr>
          <a:xfrm>
            <a:off x="77724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9832" y="2194560"/>
            <a:ext cx="402336" cy="402336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7383780" y="2697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评审与复盘</a:t>
            </a:r>
            <a:endParaRPr lang="en-US" sz="1300" dirty="0"/>
          </a:p>
        </p:txBody>
      </p:sp>
      <p:sp>
        <p:nvSpPr>
          <p:cNvPr id="50" name="Text 37"/>
          <p:cNvSpPr/>
          <p:nvPr/>
        </p:nvSpPr>
        <p:spPr>
          <a:xfrm>
            <a:off x="7383780" y="30175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gate-review</a:t>
            </a:r>
            <a:endParaRPr lang="en-US" sz="900" dirty="0"/>
          </a:p>
        </p:txBody>
      </p:sp>
      <p:sp>
        <p:nvSpPr>
          <p:cNvPr id="51" name="Text 38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每一步都有结构化输出，Stage-Gate 质量关卡确保产出物达标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阶段 1：立项前验证（PM-assistant）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需求理解与拆解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51560" y="1527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核心功能、用户画像、痛点、用户研究验证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94944" y="1645920"/>
            <a:ext cx="18288" cy="2286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3852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892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飞书文档查重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51560" y="21854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自动检索内部知识库，避免重复造轮子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94944" y="2304288"/>
            <a:ext cx="18288" cy="2286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596896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25511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网络竞品检索 + SWOT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051560" y="28437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竞品分析、差异化机会、SWOT 矩阵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94944" y="2962656"/>
            <a:ext cx="18288" cy="2286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255264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51560" y="32095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商业模型快评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051560" y="3502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Canvas 七要素快速商业校验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694944" y="3621024"/>
            <a:ext cx="18288" cy="2286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913632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3867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可落地性联合快评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05156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复杂度 + 技术可行性前置校准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846320" y="1234440"/>
            <a:ext cx="3840480" cy="320040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7"/>
          <p:cNvSpPr/>
          <p:nvPr/>
        </p:nvSpPr>
        <p:spPr>
          <a:xfrm>
            <a:off x="4846320" y="1234440"/>
            <a:ext cx="64008" cy="3200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18"/>
          <p:cNvSpPr/>
          <p:nvPr/>
        </p:nvSpPr>
        <p:spPr>
          <a:xfrm>
            <a:off x="512064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产出物：价值评估报告</a:t>
            </a:r>
            <a:endParaRPr lang="en-US" sz="14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2080" y="1828800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532120" y="18105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Canvas 商业模型评估</a:t>
            </a:r>
            <a:endParaRPr lang="en-US" sz="10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2080" y="2176272"/>
            <a:ext cx="219456" cy="21945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532120" y="21579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五维评分: 创新度 / 需求度 / 难度 / 优势 / 商业性</a:t>
            </a:r>
            <a:endParaRPr lang="en-US" sz="10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2080" y="2523744"/>
            <a:ext cx="219456" cy="21945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532120" y="25054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矩阵分析</a:t>
            </a:r>
            <a:endParaRPr lang="en-US" sz="10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2080" y="2871216"/>
            <a:ext cx="219456" cy="219456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532120" y="28529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复杂度: 低 / 中 / 高</a:t>
            </a:r>
            <a:endParaRPr lang="en-US" sz="100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2080" y="3218688"/>
            <a:ext cx="219456" cy="219456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553212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技术可行性: 高 / 中 / 低</a:t>
            </a:r>
            <a:endParaRPr lang="en-US" sz="10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2080" y="3566160"/>
            <a:ext cx="219456" cy="219456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5532120" y="3547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结论: 推进 / 缩范围 / 不建议推进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阶段 2：需求文档与低保真原型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4008" cy="3383280"/>
          </a:xfrm>
          <a:prstGeom prst="rect">
            <a:avLst/>
          </a:prstGeom>
          <a:solidFill>
            <a:srgbClr val="0D4F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章节结构化 PRD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产品概述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6040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用户分析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2219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用户故事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06040" y="22219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功能需求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6090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非功能需求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266090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交互设计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0998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技术方案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30998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里程碑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38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风险评估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6040" y="3538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术语表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23444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846320" y="1234440"/>
            <a:ext cx="64008" cy="914400"/>
          </a:xfrm>
          <a:prstGeom prst="rect">
            <a:avLst/>
          </a:prstGeom>
          <a:solidFill>
            <a:srgbClr val="1A8FB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371600"/>
            <a:ext cx="329184" cy="32918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532120" y="1325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可点击 HTML 线框图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532120" y="1618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3-8 个核心页面，灰度交互原型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846320" y="233172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/>
          <p:cNvSpPr/>
          <p:nvPr/>
        </p:nvSpPr>
        <p:spPr>
          <a:xfrm>
            <a:off x="4846320" y="2331720"/>
            <a:ext cx="64008" cy="914400"/>
          </a:xfrm>
          <a:prstGeom prst="rect">
            <a:avLst/>
          </a:prstGeom>
          <a:solidFill>
            <a:srgbClr val="1A8FB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468880"/>
            <a:ext cx="329184" cy="32918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532120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多渠道分发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532120" y="2715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本地文件 / 飞书 / GitHub PR / 墨刀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846320" y="342900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4"/>
          <p:cNvSpPr/>
          <p:nvPr/>
        </p:nvSpPr>
        <p:spPr>
          <a:xfrm>
            <a:off x="4846320" y="3429000"/>
            <a:ext cx="64008" cy="914400"/>
          </a:xfrm>
          <a:prstGeom prst="rect">
            <a:avLst/>
          </a:prstGeom>
          <a:solidFill>
            <a:srgbClr val="1A8FB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3566160"/>
            <a:ext cx="329184" cy="32918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53212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质量自检清单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5532120" y="3813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项结构完整性检查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阶段 3：高保真原型设计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4688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468880" cy="640080"/>
          </a:xfrm>
          <a:prstGeom prst="rect">
            <a:avLst/>
          </a:prstGeom>
          <a:solidFill>
            <a:srgbClr val="0D4F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508760" y="1325880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141732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965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科技蓝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Blue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2651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 / SaaS / AI / 效率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37560" y="1188720"/>
            <a:ext cx="24688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3337560" y="1188720"/>
            <a:ext cx="2468880" cy="6400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4297680" y="1325880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417320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1965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自然绿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33756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Green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474720" y="2651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 / 社区 / 运动 / 环保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26480" y="1188720"/>
            <a:ext cx="24688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5"/>
          <p:cNvSpPr/>
          <p:nvPr/>
        </p:nvSpPr>
        <p:spPr>
          <a:xfrm>
            <a:off x="6126480" y="1188720"/>
            <a:ext cx="2468880" cy="640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6"/>
          <p:cNvSpPr/>
          <p:nvPr/>
        </p:nvSpPr>
        <p:spPr>
          <a:xfrm>
            <a:off x="7086600" y="1325880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1417320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26480" y="1965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优雅紫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12648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 Purple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263640" y="2651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创意 / 社交 / 娱乐 / 媒体</a:t>
            </a:r>
            <a:endParaRPr lang="en-US" sz="10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40480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05840" y="38221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灰度 → 品牌配色</a:t>
            </a:r>
            <a:endParaRPr lang="en-US" sz="10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3840480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108960" y="38221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文字占位 → Lucide Icons</a:t>
            </a:r>
            <a:endParaRPr lang="en-US" sz="10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840480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12080" y="38221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 → 入场动画 + 悬停效果</a:t>
            </a:r>
            <a:endParaRPr lang="en-US" sz="10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3840480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315200" y="38221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可导出墨刀用于评审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阶段 4+5：架构设计与任务拆分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4008" cy="3383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Agent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920240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901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技术栈选型 + 选型理由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04288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系统架构图（Mermaid）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88336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2670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数据模型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72384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5840" y="3054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设计</a:t>
            </a:r>
            <a:endParaRPr lang="en-US" sz="10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56432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05840" y="34381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部署拓扑 + 成本估算</a:t>
            </a:r>
            <a:endParaRPr lang="en-US" sz="10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40480"/>
            <a:ext cx="182880" cy="18288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05840" y="3822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安全设计（OWASP Top 10）</a:t>
            </a:r>
            <a:endParaRPr lang="en-US" sz="1000" dirty="0"/>
          </a:p>
        </p:txBody>
      </p:sp>
      <p:sp>
        <p:nvSpPr>
          <p:cNvPr id="20" name="Shape 11"/>
          <p:cNvSpPr/>
          <p:nvPr/>
        </p:nvSpPr>
        <p:spPr>
          <a:xfrm>
            <a:off x="4846320" y="1234440"/>
            <a:ext cx="38404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2"/>
          <p:cNvSpPr/>
          <p:nvPr/>
        </p:nvSpPr>
        <p:spPr>
          <a:xfrm>
            <a:off x="4846320" y="1234440"/>
            <a:ext cx="64008" cy="3383280"/>
          </a:xfrm>
          <a:prstGeom prst="rect">
            <a:avLst/>
          </a:prstGeom>
          <a:solidFill>
            <a:srgbClr val="1A8FB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371600"/>
            <a:ext cx="329184" cy="329184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53212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requirement-to-issues</a:t>
            </a:r>
            <a:endParaRPr lang="en-US" sz="1400" dirty="0"/>
          </a:p>
        </p:txBody>
      </p:sp>
      <p:sp>
        <p:nvSpPr>
          <p:cNvPr id="24" name="Text 14"/>
          <p:cNvSpPr/>
          <p:nvPr/>
        </p:nvSpPr>
        <p:spPr>
          <a:xfrm>
            <a:off x="521208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模块 Epic（P0, 3 个功能点）</a:t>
            </a:r>
            <a:endParaRPr lang="en-US" sz="1000" dirty="0"/>
          </a:p>
        </p:txBody>
      </p:sp>
      <p:sp>
        <p:nvSpPr>
          <p:cNvPr id="25" name="Text 15"/>
          <p:cNvSpPr/>
          <p:nvPr/>
        </p:nvSpPr>
        <p:spPr>
          <a:xfrm>
            <a:off x="548640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功能点 Task A（P0）</a:t>
            </a:r>
            <a:endParaRPr lang="en-US" sz="1000" dirty="0"/>
          </a:p>
        </p:txBody>
      </p:sp>
      <p:sp>
        <p:nvSpPr>
          <p:cNvPr id="26" name="Text 16"/>
          <p:cNvSpPr/>
          <p:nvPr/>
        </p:nvSpPr>
        <p:spPr>
          <a:xfrm>
            <a:off x="548640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功能点 Task B（P0）</a:t>
            </a:r>
            <a:endParaRPr lang="en-US" sz="1000" dirty="0"/>
          </a:p>
        </p:txBody>
      </p:sp>
      <p:sp>
        <p:nvSpPr>
          <p:cNvPr id="27" name="Text 17"/>
          <p:cNvSpPr/>
          <p:nvPr/>
        </p:nvSpPr>
        <p:spPr>
          <a:xfrm>
            <a:off x="548640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功能点 Task C（P1）</a:t>
            </a:r>
            <a:endParaRPr lang="en-US" sz="1000" dirty="0"/>
          </a:p>
        </p:txBody>
      </p:sp>
      <p:sp>
        <p:nvSpPr>
          <p:cNvPr id="28" name="Text 18"/>
          <p:cNvSpPr/>
          <p:nvPr/>
        </p:nvSpPr>
        <p:spPr>
          <a:xfrm>
            <a:off x="521208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模块 Epic（P1, 2 个功能点）</a:t>
            </a:r>
            <a:endParaRPr lang="en-US" sz="1000" dirty="0"/>
          </a:p>
        </p:txBody>
      </p:sp>
      <p:sp>
        <p:nvSpPr>
          <p:cNvPr id="29" name="Text 19"/>
          <p:cNvSpPr/>
          <p:nvPr/>
        </p:nvSpPr>
        <p:spPr>
          <a:xfrm>
            <a:off x="548640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功能点 Task D（P1）</a:t>
            </a:r>
            <a:endParaRPr lang="en-US" sz="1000" dirty="0"/>
          </a:p>
        </p:txBody>
      </p:sp>
      <p:sp>
        <p:nvSpPr>
          <p:cNvPr id="30" name="Text 20"/>
          <p:cNvSpPr/>
          <p:nvPr/>
        </p:nvSpPr>
        <p:spPr>
          <a:xfrm>
            <a:off x="548640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功能点 Task E（P2）</a:t>
            </a:r>
            <a:endParaRPr lang="en-US" sz="1000" dirty="0"/>
          </a:p>
        </p:txBody>
      </p:sp>
      <p:sp>
        <p:nvSpPr>
          <p:cNvPr id="31" name="Text 21"/>
          <p:cNvSpPr/>
          <p:nvPr/>
        </p:nvSpPr>
        <p:spPr>
          <a:xfrm>
            <a:off x="507492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自动关联: 用户故事 · 架构引用 · 里程碑 · 模块依赖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版本管理：全链路追踪闭环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25780" y="1097280"/>
            <a:ext cx="12344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25780" y="1097280"/>
            <a:ext cx="123444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25780" y="12070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PM-assistant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" y="15087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迭代检测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364" y="1417320"/>
            <a:ext cx="164592" cy="1645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897380" y="1097280"/>
            <a:ext cx="12344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1897380" y="1097280"/>
            <a:ext cx="1234440" cy="54864"/>
          </a:xfrm>
          <a:prstGeom prst="rect">
            <a:avLst/>
          </a:prstGeom>
          <a:solidFill>
            <a:srgbClr val="0D4F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1897380" y="12070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requirement-doc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897380" y="15087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版本递增</a:t>
            </a:r>
            <a:endParaRPr lang="en-US" sz="8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964" y="1417320"/>
            <a:ext cx="164592" cy="1645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268980" y="1097280"/>
            <a:ext cx="12344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1"/>
          <p:cNvSpPr/>
          <p:nvPr/>
        </p:nvSpPr>
        <p:spPr>
          <a:xfrm>
            <a:off x="3268980" y="1097280"/>
            <a:ext cx="1234440" cy="54864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2"/>
          <p:cNvSpPr/>
          <p:nvPr/>
        </p:nvSpPr>
        <p:spPr>
          <a:xfrm>
            <a:off x="3268980" y="12070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gate-review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268980" y="15087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版本校验</a:t>
            </a:r>
            <a:endParaRPr lang="en-US" sz="8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564" y="1417320"/>
            <a:ext cx="164592" cy="16459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640580" y="1097280"/>
            <a:ext cx="12344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5"/>
          <p:cNvSpPr/>
          <p:nvPr/>
        </p:nvSpPr>
        <p:spPr>
          <a:xfrm>
            <a:off x="4640580" y="1097280"/>
            <a:ext cx="12344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6"/>
          <p:cNvSpPr/>
          <p:nvPr/>
        </p:nvSpPr>
        <p:spPr>
          <a:xfrm>
            <a:off x="4640580" y="12070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640580" y="15087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架构版本 + 关联 PRD</a:t>
            </a:r>
            <a:endParaRPr lang="en-US" sz="8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1417320"/>
            <a:ext cx="164592" cy="16459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012180" y="1097280"/>
            <a:ext cx="12344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19"/>
          <p:cNvSpPr/>
          <p:nvPr/>
        </p:nvSpPr>
        <p:spPr>
          <a:xfrm>
            <a:off x="6012180" y="1097280"/>
            <a:ext cx="1234440" cy="54864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0"/>
          <p:cNvSpPr/>
          <p:nvPr/>
        </p:nvSpPr>
        <p:spPr>
          <a:xfrm>
            <a:off x="6012180" y="12070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gate-review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012180" y="15087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版本校验</a:t>
            </a:r>
            <a:endParaRPr lang="en-US" sz="8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764" y="1417320"/>
            <a:ext cx="164592" cy="164592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7383780" y="1097280"/>
            <a:ext cx="12344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3"/>
          <p:cNvSpPr/>
          <p:nvPr/>
        </p:nvSpPr>
        <p:spPr>
          <a:xfrm>
            <a:off x="7383780" y="1097280"/>
            <a:ext cx="1234440" cy="54864"/>
          </a:xfrm>
          <a:prstGeom prst="rect">
            <a:avLst/>
          </a:prstGeom>
          <a:solidFill>
            <a:srgbClr val="1A8FB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4"/>
          <p:cNvSpPr/>
          <p:nvPr/>
        </p:nvSpPr>
        <p:spPr>
          <a:xfrm>
            <a:off x="7383780" y="12070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req-to-issues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7383780" y="15087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版本溯源写入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457200" y="2240280"/>
            <a:ext cx="39319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7"/>
          <p:cNvSpPr/>
          <p:nvPr/>
        </p:nvSpPr>
        <p:spPr>
          <a:xfrm>
            <a:off x="457200" y="2240280"/>
            <a:ext cx="64008" cy="2468880"/>
          </a:xfrm>
          <a:prstGeom prst="rect">
            <a:avLst/>
          </a:prstGeom>
          <a:solidFill>
            <a:srgbClr val="0D4F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8"/>
          <p:cNvSpPr/>
          <p:nvPr/>
        </p:nvSpPr>
        <p:spPr>
          <a:xfrm>
            <a:off x="73152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版本号规则（Semantic Versioning）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777240" y="2788920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0"/>
          <p:cNvSpPr/>
          <p:nvPr/>
        </p:nvSpPr>
        <p:spPr>
          <a:xfrm>
            <a:off x="1051560" y="2743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 v1.0.X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1051560" y="29900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措辞修正、格式调整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777240" y="3337560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3"/>
          <p:cNvSpPr/>
          <p:nvPr/>
        </p:nvSpPr>
        <p:spPr>
          <a:xfrm>
            <a:off x="1051560" y="3291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 v1.X.0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1051560" y="35387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新增/修改功能、调整优先级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777240" y="3886200"/>
            <a:ext cx="201168" cy="201168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36"/>
          <p:cNvSpPr/>
          <p:nvPr/>
        </p:nvSpPr>
        <p:spPr>
          <a:xfrm>
            <a:off x="1051560" y="38404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 vX.0.0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1051560" y="40873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产品方向重大调整、范围变更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4846320" y="2240280"/>
            <a:ext cx="384048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39"/>
          <p:cNvSpPr/>
          <p:nvPr/>
        </p:nvSpPr>
        <p:spPr>
          <a:xfrm>
            <a:off x="4846320" y="2240280"/>
            <a:ext cx="64008" cy="246888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0"/>
          <p:cNvSpPr/>
          <p:nvPr/>
        </p:nvSpPr>
        <p:spPr>
          <a:xfrm>
            <a:off x="5120640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版本校验与追溯</a:t>
            </a:r>
            <a:endParaRPr lang="en-US" sz="1200" dirty="0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761488"/>
            <a:ext cx="182880" cy="182880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539496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1：PRD 文档头 vs §11 变更记录一致</a:t>
            </a:r>
            <a:endParaRPr lang="en-US" sz="900" dirty="0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127248"/>
            <a:ext cx="182880" cy="182880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5394960" y="3108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2：「关联 PRD」含精确版本号</a:t>
            </a:r>
            <a:endParaRPr lang="en-US" sz="900" dirty="0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493008"/>
            <a:ext cx="182880" cy="182880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539496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2：关联版本号与实际 PRD 一致</a:t>
            </a:r>
            <a:endParaRPr lang="en-US" sz="900" dirty="0"/>
          </a:p>
        </p:txBody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858768"/>
            <a:ext cx="182880" cy="182880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539496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Issue：版本来源 PRD vX | Arch vX</a:t>
            </a:r>
            <a:endParaRPr lang="en-US" sz="900" dirty="0"/>
          </a:p>
        </p:txBody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4224528"/>
            <a:ext cx="182880" cy="182880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539496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Git：分支名 + Commit 嵌入版本号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qifenghou/Codes/PM-Project/.tmp/cover-bg.jp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全链路协作生态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3429000" y="1645920"/>
            <a:ext cx="2286000" cy="2286000"/>
          </a:xfrm>
          <a:prstGeom prst="ellipse">
            <a:avLst/>
          </a:prstGeom>
          <a:solidFill>
            <a:srgbClr val="0D4F8B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3657600" y="1874520"/>
            <a:ext cx="1828800" cy="1828800"/>
          </a:xfrm>
          <a:prstGeom prst="ellipse">
            <a:avLst/>
          </a:prstGeom>
          <a:solidFill>
            <a:srgbClr val="0D4F8B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22860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1234440" y="1691640"/>
            <a:ext cx="3337560" cy="109728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1554480" cy="822960"/>
          </a:xfrm>
          <a:prstGeom prst="ellipse">
            <a:avLst/>
          </a:prstGeom>
          <a:solidFill>
            <a:srgbClr val="1A8FB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153619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飞书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960120" y="1755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查重 · 同步 · 知识库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 flipH="1">
            <a:off x="4572000" y="1691640"/>
            <a:ext cx="3063240" cy="109728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1"/>
          <p:cNvSpPr/>
          <p:nvPr/>
        </p:nvSpPr>
        <p:spPr>
          <a:xfrm>
            <a:off x="6858000" y="1371600"/>
            <a:ext cx="1554480" cy="82296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1536192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6092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360920" y="1755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· Issue · 审查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4434840" y="2788920"/>
            <a:ext cx="137160" cy="164592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5"/>
          <p:cNvSpPr/>
          <p:nvPr/>
        </p:nvSpPr>
        <p:spPr>
          <a:xfrm>
            <a:off x="3657600" y="4114800"/>
            <a:ext cx="1554480" cy="82296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4760" y="4279392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160520" y="4206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墨刀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160520" y="44988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原型评审 · 团队协作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产品经理无需切换工具，在一个对话窗口里完成全部操作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客户价值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4008" cy="1554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min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立项评估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灵感到决策报告，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从数天压缩到 10 分钟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508760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846320" y="123444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4846320" y="1234440"/>
            <a:ext cx="64008" cy="1554480"/>
          </a:xfrm>
          <a:prstGeom prst="rect">
            <a:avLst/>
          </a:prstGeom>
          <a:solidFill>
            <a:srgbClr val="0D4F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5120640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4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自动生成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1206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 PRD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12064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章节 + 原型图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一次对话完成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508760"/>
            <a:ext cx="411480" cy="4114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57200" y="324612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3"/>
          <p:cNvSpPr/>
          <p:nvPr/>
        </p:nvSpPr>
        <p:spPr>
          <a:xfrm>
            <a:off x="457200" y="3246120"/>
            <a:ext cx="64008" cy="1554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73152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即时交付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73152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高保真原型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31520" y="4160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无需等待设计师，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一键从低保真升级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520440"/>
            <a:ext cx="411480" cy="4114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846320" y="324612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8"/>
          <p:cNvSpPr/>
          <p:nvPr/>
        </p:nvSpPr>
        <p:spPr>
          <a:xfrm>
            <a:off x="4846320" y="3246120"/>
            <a:ext cx="64008" cy="1554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19"/>
          <p:cNvSpPr/>
          <p:nvPr/>
        </p:nvSpPr>
        <p:spPr>
          <a:xfrm>
            <a:off x="512064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一键拆分</a:t>
            </a:r>
            <a:endParaRPr lang="en-US" sz="2800" dirty="0"/>
          </a:p>
        </p:txBody>
      </p:sp>
      <p:sp>
        <p:nvSpPr>
          <p:cNvPr id="25" name="Text 20"/>
          <p:cNvSpPr/>
          <p:nvPr/>
        </p:nvSpPr>
        <p:spPr>
          <a:xfrm>
            <a:off x="512064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120640" y="4160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模块→Task 两级拆分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自动关联上下文</a:t>
            </a:r>
            <a:endParaRPr lang="en-US" sz="10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52044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附录 A：Agent 清单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是角色化协作单元，负责路由、分析、评审、设计等任务。每个 Agent 拥有独立职责和触发条件。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名称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典型触发场景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PM-assistant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立项前验证与需求过滤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「我有一个产品灵感…」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Analyst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需求分析与灵感验证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「帮我分析这个需求可行性」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高保真原型设计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「将线框图升级为高保真」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技术架构设计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「根据 PRD 设计架构」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gate-review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Stage-Gate 评审门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「对 PRD 做评审」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post-launch-review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上线复盘与迭代决策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「复盘上线数据表现」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任务上下文研究与路由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每次任务前自动调用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new-employee-mentor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统一入口与任务分发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不确定用哪个工具时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code-review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代码评审与质量检查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「审查这段代码」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code-debug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报错排查与修复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「这个报错怎么修」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code-testing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测试生成与覆盖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「写单元测试」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code-docs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文档生成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「生成 README」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pr-review-submit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审查提交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「提交审查意见到 PR」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ui-testing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自动化测试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「用 Playwright 测试」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附录 B：Skill 清单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是领域知识沉淀，包含方法论、模板、参考文档和执行流程。被 Agent 按需调用。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名称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典型触发场景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requirement-doc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 与低保真原型生成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「生成需求文档」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requirement-to-issues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 拆分为 GitHub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「拆需求到 Issue」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prototype-design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高保真原型设计规范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「生成高保真原型」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modao-prototype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墨刀原型导入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「导入墨刀」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架构设计模板与方法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「设计技术方案」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coding-standards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全栈编码规范集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「查询编码规范」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code-review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审查流程标准化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「代码审查」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code-standards-check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规范合规性扫描与报告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「检查代码规范」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github-publish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提交与发布工作流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「提交到 GitHub」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feishu-docs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飞书文档查重、读写与同步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「查飞书文档」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microservices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微服务设计、治理与部署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「微服务架构」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playwright-testing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 UI 测试规范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「E2E 测试」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security-audit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安全专项审查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「安全审计」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qifenghou/Codes/PM-Project/.tmp/cover-bg.jp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D4F8B">
              <a:alpha val="2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1A8FB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0" y="11887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6000" dirty="0"/>
          </a:p>
        </p:txBody>
      </p:sp>
      <p:sp>
        <p:nvSpPr>
          <p:cNvPr id="7" name="Shape 4"/>
          <p:cNvSpPr/>
          <p:nvPr/>
        </p:nvSpPr>
        <p:spPr>
          <a:xfrm>
            <a:off x="3840480" y="2743200"/>
            <a:ext cx="146304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0" y="3017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github.com/nickhou1983/PM-Project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706</Words>
  <Application>Microsoft Macintosh PowerPoint</Application>
  <PresentationFormat>全屏显示(16:9)</PresentationFormat>
  <Paragraphs>263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驱动的产品经理工作台</dc:title>
  <dc:subject>PptxGenJS Presentation</dc:subject>
  <dc:creator>PM-Project</dc:creator>
  <cp:lastModifiedBy>Qifeng Hou</cp:lastModifiedBy>
  <cp:revision>2</cp:revision>
  <dcterms:created xsi:type="dcterms:W3CDTF">2026-03-30T05:11:36Z</dcterms:created>
  <dcterms:modified xsi:type="dcterms:W3CDTF">2026-03-30T05:26:13Z</dcterms:modified>
</cp:coreProperties>
</file>