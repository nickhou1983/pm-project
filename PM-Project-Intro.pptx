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qifenghou/Codes/PM-Project/.tmp/cover-bg.jpg">    </p:cNvPr>
          <p:cNvPicPr>
            <a:picLocks noChangeAspect="1"/>
          </p:cNvPicPr>
          <p:nvPr/>
        </p:nvPicPr>
        <p:blipFill>
          <a:blip r:embed="rId1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>
              <a:alpha val="6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6858000" y="-457200"/>
            <a:ext cx="3200400" cy="3200400"/>
          </a:xfrm>
          <a:prstGeom prst="ellipse">
            <a:avLst/>
          </a:prstGeom>
          <a:solidFill>
            <a:srgbClr val="0D4F8B">
              <a:alpha val="30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7498080" y="2286000"/>
            <a:ext cx="2286000" cy="2286000"/>
          </a:xfrm>
          <a:prstGeom prst="ellipse">
            <a:avLst/>
          </a:prstGeom>
          <a:solidFill>
            <a:srgbClr val="1A8FBF">
              <a:alpha val="25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731520" y="1554480"/>
            <a:ext cx="137160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73736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驱动的产品经理工作台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517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从灵感到开发的全链路自动化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31520" y="4389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PM-Project  |  基于 GitHub Copilot 自定义 Agent &amp; Skill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产品经理面临的挑战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09728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234440"/>
            <a:ext cx="393192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234440"/>
            <a:ext cx="64008" cy="155448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08760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34440" y="14173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灵感评估靠直觉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234440" y="18288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缺乏数据支撑，立项决策全凭经验，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容易做重复或无价值的需求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754880" y="1234440"/>
            <a:ext cx="393192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54880" y="1234440"/>
            <a:ext cx="64008" cy="155448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508760"/>
            <a:ext cx="384048" cy="38404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32120" y="14173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PRD 手写耗时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5532120" y="18288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逐章节填写、格式不统一，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反复修改导致交付周期长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3154680"/>
            <a:ext cx="393192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57200" y="3154680"/>
            <a:ext cx="64008" cy="155448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429000"/>
            <a:ext cx="384048" cy="38404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34440" y="3337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竞品调研散乱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1234440" y="37490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信息来源分散、无标准流程，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调研结果无法沉淀复用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754880" y="3154680"/>
            <a:ext cx="393192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754880" y="3154680"/>
            <a:ext cx="64008" cy="155448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3429000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532120" y="3337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PRD → 开发断链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5532120" y="37490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需求到架构、任务拆分全靠人工，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关键信息在流转中丢失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端到端自动化流水线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09728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25780" y="1371600"/>
            <a:ext cx="123444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25780" y="1371600"/>
            <a:ext cx="123444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1600200"/>
            <a:ext cx="457200" cy="45720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2194560"/>
            <a:ext cx="402336" cy="40233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25780" y="26974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立项验证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25780" y="301752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PM-assistant</a:t>
            </a:r>
            <a:endParaRPr lang="en-US" sz="9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508" y="2313432"/>
            <a:ext cx="201168" cy="20116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1897380" y="1371600"/>
            <a:ext cx="123444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1897380" y="1371600"/>
            <a:ext cx="1234440" cy="73152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14" name="Shape 10"/>
          <p:cNvSpPr/>
          <p:nvPr/>
        </p:nvSpPr>
        <p:spPr>
          <a:xfrm>
            <a:off x="2286000" y="1600200"/>
            <a:ext cx="457200" cy="457200"/>
          </a:xfrm>
          <a:prstGeom prst="ellipse">
            <a:avLst/>
          </a:prstGeom>
          <a:solidFill>
            <a:srgbClr val="0D4F8B"/>
          </a:solidFill>
          <a:ln/>
        </p:spPr>
      </p:sp>
      <p:sp>
        <p:nvSpPr>
          <p:cNvPr id="15" name="Text 11"/>
          <p:cNvSpPr/>
          <p:nvPr/>
        </p:nvSpPr>
        <p:spPr>
          <a:xfrm>
            <a:off x="228600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3432" y="2194560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97380" y="26974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PRD 生成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1897380" y="301752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requirement-doc</a:t>
            </a:r>
            <a:endParaRPr lang="en-US" sz="9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0108" y="2313432"/>
            <a:ext cx="201168" cy="201168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3268980" y="1371600"/>
            <a:ext cx="123444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3268980" y="1371600"/>
            <a:ext cx="1234440" cy="731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2" name="Shape 16"/>
          <p:cNvSpPr/>
          <p:nvPr/>
        </p:nvSpPr>
        <p:spPr>
          <a:xfrm>
            <a:off x="3657600" y="1600200"/>
            <a:ext cx="457200" cy="45720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3" name="Text 17"/>
          <p:cNvSpPr/>
          <p:nvPr/>
        </p:nvSpPr>
        <p:spPr>
          <a:xfrm>
            <a:off x="365760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5032" y="2194560"/>
            <a:ext cx="402336" cy="40233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3268980" y="26974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高保真原型</a:t>
            </a:r>
            <a:endParaRPr lang="en-US" sz="1300" dirty="0"/>
          </a:p>
        </p:txBody>
      </p:sp>
      <p:sp>
        <p:nvSpPr>
          <p:cNvPr id="26" name="Text 19"/>
          <p:cNvSpPr/>
          <p:nvPr/>
        </p:nvSpPr>
        <p:spPr>
          <a:xfrm>
            <a:off x="3268980" y="301752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Designer</a:t>
            </a:r>
            <a:endParaRPr lang="en-US" sz="900" dirty="0"/>
          </a:p>
        </p:txBody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1708" y="2313432"/>
            <a:ext cx="201168" cy="201168"/>
          </a:xfrm>
          <a:prstGeom prst="rect">
            <a:avLst/>
          </a:prstGeom>
        </p:spPr>
      </p:pic>
      <p:sp>
        <p:nvSpPr>
          <p:cNvPr id="28" name="Shape 20"/>
          <p:cNvSpPr/>
          <p:nvPr/>
        </p:nvSpPr>
        <p:spPr>
          <a:xfrm>
            <a:off x="4640580" y="1371600"/>
            <a:ext cx="123444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1"/>
          <p:cNvSpPr/>
          <p:nvPr/>
        </p:nvSpPr>
        <p:spPr>
          <a:xfrm>
            <a:off x="4640580" y="1371600"/>
            <a:ext cx="1234440" cy="7315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0" name="Shape 22"/>
          <p:cNvSpPr/>
          <p:nvPr/>
        </p:nvSpPr>
        <p:spPr>
          <a:xfrm>
            <a:off x="5029200" y="1600200"/>
            <a:ext cx="457200" cy="45720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31" name="Text 23"/>
          <p:cNvSpPr/>
          <p:nvPr/>
        </p:nvSpPr>
        <p:spPr>
          <a:xfrm>
            <a:off x="502920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56632" y="2194560"/>
            <a:ext cx="402336" cy="402336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4640580" y="26974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架构设计</a:t>
            </a:r>
            <a:endParaRPr lang="en-US" sz="1300" dirty="0"/>
          </a:p>
        </p:txBody>
      </p:sp>
      <p:sp>
        <p:nvSpPr>
          <p:cNvPr id="34" name="Text 25"/>
          <p:cNvSpPr/>
          <p:nvPr/>
        </p:nvSpPr>
        <p:spPr>
          <a:xfrm>
            <a:off x="4640580" y="301752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</a:t>
            </a:r>
            <a:endParaRPr lang="en-US" sz="900" dirty="0"/>
          </a:p>
        </p:txBody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93308" y="2313432"/>
            <a:ext cx="201168" cy="201168"/>
          </a:xfrm>
          <a:prstGeom prst="rect">
            <a:avLst/>
          </a:prstGeom>
        </p:spPr>
      </p:pic>
      <p:sp>
        <p:nvSpPr>
          <p:cNvPr id="36" name="Shape 26"/>
          <p:cNvSpPr/>
          <p:nvPr/>
        </p:nvSpPr>
        <p:spPr>
          <a:xfrm>
            <a:off x="6012180" y="1371600"/>
            <a:ext cx="123444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7" name="Shape 27"/>
          <p:cNvSpPr/>
          <p:nvPr/>
        </p:nvSpPr>
        <p:spPr>
          <a:xfrm>
            <a:off x="6012180" y="1371600"/>
            <a:ext cx="1234440" cy="73152"/>
          </a:xfrm>
          <a:prstGeom prst="rect">
            <a:avLst/>
          </a:prstGeom>
          <a:solidFill>
            <a:srgbClr val="1A8FBF"/>
          </a:solidFill>
          <a:ln/>
        </p:spPr>
      </p:sp>
      <p:sp>
        <p:nvSpPr>
          <p:cNvPr id="38" name="Shape 28"/>
          <p:cNvSpPr/>
          <p:nvPr/>
        </p:nvSpPr>
        <p:spPr>
          <a:xfrm>
            <a:off x="6400800" y="1600200"/>
            <a:ext cx="457200" cy="457200"/>
          </a:xfrm>
          <a:prstGeom prst="ellipse">
            <a:avLst/>
          </a:prstGeom>
          <a:solidFill>
            <a:srgbClr val="1A8FBF"/>
          </a:solidFill>
          <a:ln/>
        </p:spPr>
      </p:sp>
      <p:sp>
        <p:nvSpPr>
          <p:cNvPr id="39" name="Text 29"/>
          <p:cNvSpPr/>
          <p:nvPr/>
        </p:nvSpPr>
        <p:spPr>
          <a:xfrm>
            <a:off x="640080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pic>
        <p:nvPicPr>
          <p:cNvPr id="4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2194560"/>
            <a:ext cx="402336" cy="402336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6012180" y="26974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任务拆分</a:t>
            </a:r>
            <a:endParaRPr lang="en-US" sz="1300" dirty="0"/>
          </a:p>
        </p:txBody>
      </p:sp>
      <p:sp>
        <p:nvSpPr>
          <p:cNvPr id="42" name="Text 31"/>
          <p:cNvSpPr/>
          <p:nvPr/>
        </p:nvSpPr>
        <p:spPr>
          <a:xfrm>
            <a:off x="6012180" y="301752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req-to-issues</a:t>
            </a:r>
            <a:endParaRPr lang="en-US" sz="900" dirty="0"/>
          </a:p>
        </p:txBody>
      </p:sp>
      <p:pic>
        <p:nvPicPr>
          <p:cNvPr id="4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64908" y="2313432"/>
            <a:ext cx="201168" cy="201168"/>
          </a:xfrm>
          <a:prstGeom prst="rect">
            <a:avLst/>
          </a:prstGeom>
        </p:spPr>
      </p:pic>
      <p:sp>
        <p:nvSpPr>
          <p:cNvPr id="44" name="Shape 32"/>
          <p:cNvSpPr/>
          <p:nvPr/>
        </p:nvSpPr>
        <p:spPr>
          <a:xfrm>
            <a:off x="7383780" y="1371600"/>
            <a:ext cx="1234440" cy="2103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5" name="Shape 33"/>
          <p:cNvSpPr/>
          <p:nvPr/>
        </p:nvSpPr>
        <p:spPr>
          <a:xfrm>
            <a:off x="7383780" y="1371600"/>
            <a:ext cx="1234440" cy="73152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46" name="Shape 34"/>
          <p:cNvSpPr/>
          <p:nvPr/>
        </p:nvSpPr>
        <p:spPr>
          <a:xfrm>
            <a:off x="7772400" y="1600200"/>
            <a:ext cx="457200" cy="457200"/>
          </a:xfrm>
          <a:prstGeom prst="ellipse">
            <a:avLst/>
          </a:prstGeom>
          <a:solidFill>
            <a:srgbClr val="E11D48"/>
          </a:solidFill>
          <a:ln/>
        </p:spPr>
      </p:sp>
      <p:sp>
        <p:nvSpPr>
          <p:cNvPr id="47" name="Text 35"/>
          <p:cNvSpPr/>
          <p:nvPr/>
        </p:nvSpPr>
        <p:spPr>
          <a:xfrm>
            <a:off x="777240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pic>
        <p:nvPicPr>
          <p:cNvPr id="4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99832" y="2194560"/>
            <a:ext cx="402336" cy="402336"/>
          </a:xfrm>
          <a:prstGeom prst="rect">
            <a:avLst/>
          </a:prstGeom>
        </p:spPr>
      </p:pic>
      <p:sp>
        <p:nvSpPr>
          <p:cNvPr id="49" name="Text 36"/>
          <p:cNvSpPr/>
          <p:nvPr/>
        </p:nvSpPr>
        <p:spPr>
          <a:xfrm>
            <a:off x="7383780" y="26974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评审与复盘</a:t>
            </a:r>
            <a:endParaRPr lang="en-US" sz="1300" dirty="0"/>
          </a:p>
        </p:txBody>
      </p:sp>
      <p:sp>
        <p:nvSpPr>
          <p:cNvPr id="50" name="Text 37"/>
          <p:cNvSpPr/>
          <p:nvPr/>
        </p:nvSpPr>
        <p:spPr>
          <a:xfrm>
            <a:off x="7383780" y="301752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gate-review</a:t>
            </a:r>
            <a:endParaRPr lang="en-US" sz="900" dirty="0"/>
          </a:p>
        </p:txBody>
      </p:sp>
      <p:sp>
        <p:nvSpPr>
          <p:cNvPr id="51" name="Text 38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每一步都有结构化输出，Stage-Gate 质量关卡确保产出物达标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阶段 1：立项前验证（PM-assistant）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097280" cy="54864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234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需求理解与拆解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051560" y="15270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核心功能、用户画像、痛点、用户研究验证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94944" y="1645920"/>
            <a:ext cx="18288" cy="228600"/>
          </a:xfrm>
          <a:prstGeom prst="rect">
            <a:avLst/>
          </a:prstGeom>
          <a:solidFill>
            <a:srgbClr val="F1F5F9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528"/>
            <a:ext cx="329184" cy="3291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51560" y="18928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飞书文档查重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1051560" y="218541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自动检索内部知识库，避免重复造轮子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694944" y="2304288"/>
            <a:ext cx="18288" cy="228600"/>
          </a:xfrm>
          <a:prstGeom prst="rect">
            <a:avLst/>
          </a:prstGeom>
          <a:solidFill>
            <a:srgbClr val="F1F5F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96896"/>
            <a:ext cx="329184" cy="32918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51560" y="255117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网络竞品检索 + SWOT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1051560" y="284378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竞品分析、差异化机会、SWOT 矩阵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694944" y="2962656"/>
            <a:ext cx="18288" cy="228600"/>
          </a:xfrm>
          <a:prstGeom prst="rect">
            <a:avLst/>
          </a:prstGeom>
          <a:solidFill>
            <a:srgbClr val="F1F5F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55264"/>
            <a:ext cx="329184" cy="32918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051560" y="320954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商业模型快评</a:t>
            </a:r>
            <a:endParaRPr lang="en-US" sz="1300" dirty="0"/>
          </a:p>
        </p:txBody>
      </p:sp>
      <p:sp>
        <p:nvSpPr>
          <p:cNvPr id="18" name="Text 12"/>
          <p:cNvSpPr/>
          <p:nvPr/>
        </p:nvSpPr>
        <p:spPr>
          <a:xfrm>
            <a:off x="1051560" y="35021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 Canvas 七要素快速商业校验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694944" y="3621024"/>
            <a:ext cx="18288" cy="228600"/>
          </a:xfrm>
          <a:prstGeom prst="rect">
            <a:avLst/>
          </a:prstGeom>
          <a:solidFill>
            <a:srgbClr val="F1F5F9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13632"/>
            <a:ext cx="329184" cy="32918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051560" y="38679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可落地性联合快评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051560" y="41605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复杂度 + 技术可行性前置校准</a:t>
            </a:r>
            <a:endParaRPr lang="en-US" sz="1000" dirty="0"/>
          </a:p>
        </p:txBody>
      </p:sp>
      <p:sp>
        <p:nvSpPr>
          <p:cNvPr id="23" name="Shape 16"/>
          <p:cNvSpPr/>
          <p:nvPr/>
        </p:nvSpPr>
        <p:spPr>
          <a:xfrm>
            <a:off x="4846320" y="1234440"/>
            <a:ext cx="3840480" cy="3200400"/>
          </a:xfrm>
          <a:prstGeom prst="rect">
            <a:avLst/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4" name="Shape 17"/>
          <p:cNvSpPr/>
          <p:nvPr/>
        </p:nvSpPr>
        <p:spPr>
          <a:xfrm>
            <a:off x="4846320" y="1234440"/>
            <a:ext cx="64008" cy="32004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5" name="Text 18"/>
          <p:cNvSpPr/>
          <p:nvPr/>
        </p:nvSpPr>
        <p:spPr>
          <a:xfrm>
            <a:off x="5120640" y="1371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产出物：价值评估报告</a:t>
            </a:r>
            <a:endParaRPr lang="en-US" sz="14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12080" y="1828800"/>
            <a:ext cx="219456" cy="21945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5532120" y="181051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 Canvas 商业模型评估</a:t>
            </a:r>
            <a:endParaRPr lang="en-US" sz="1000" dirty="0"/>
          </a:p>
        </p:txBody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12080" y="2176272"/>
            <a:ext cx="219456" cy="219456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532120" y="215798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五维评分: 创新度 / 需求度 / 难度 / 优势 / 商业性</a:t>
            </a:r>
            <a:endParaRPr lang="en-US" sz="1000" dirty="0"/>
          </a:p>
        </p:txBody>
      </p:sp>
      <p:pic>
        <p:nvPicPr>
          <p:cNvPr id="3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12080" y="2523744"/>
            <a:ext cx="219456" cy="219456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5532120" y="250545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SWOT 矩阵分析</a:t>
            </a:r>
            <a:endParaRPr lang="en-US" sz="10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12080" y="2871216"/>
            <a:ext cx="219456" cy="219456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5532120" y="28529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复杂度: 低 / 中 / 高</a:t>
            </a:r>
            <a:endParaRPr lang="en-US" sz="1000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12080" y="3218688"/>
            <a:ext cx="219456" cy="219456"/>
          </a:xfrm>
          <a:prstGeom prst="rect">
            <a:avLst/>
          </a:prstGeom>
        </p:spPr>
      </p:pic>
      <p:sp>
        <p:nvSpPr>
          <p:cNvPr id="35" name="Text 23"/>
          <p:cNvSpPr/>
          <p:nvPr/>
        </p:nvSpPr>
        <p:spPr>
          <a:xfrm>
            <a:off x="5532120" y="32004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技术可行性: 高 / 中 / 低</a:t>
            </a:r>
            <a:endParaRPr lang="en-US" sz="1000" dirty="0"/>
          </a:p>
        </p:txBody>
      </p:sp>
      <p:pic>
        <p:nvPicPr>
          <p:cNvPr id="3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212080" y="3566160"/>
            <a:ext cx="219456" cy="219456"/>
          </a:xfrm>
          <a:prstGeom prst="rect">
            <a:avLst/>
          </a:prstGeom>
        </p:spPr>
      </p:pic>
      <p:sp>
        <p:nvSpPr>
          <p:cNvPr id="37" name="Text 24"/>
          <p:cNvSpPr/>
          <p:nvPr/>
        </p:nvSpPr>
        <p:spPr>
          <a:xfrm>
            <a:off x="5532120" y="35478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结论: 推进 / 缩范围 / 不建议推进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阶段 2：需求文档与低保真原型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09728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234440"/>
            <a:ext cx="393192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234440"/>
            <a:ext cx="64008" cy="3383280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258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章节结构化 PRD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17830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产品概述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606040" y="17830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用户分析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77240" y="222199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用户故事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606040" y="222199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功能需求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266090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非功能需求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606040" y="266090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交互设计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309981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技术方案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606040" y="309981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里程碑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387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风险评估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06040" y="35387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术语表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846320" y="1234440"/>
            <a:ext cx="384048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46320" y="1234440"/>
            <a:ext cx="64008" cy="914400"/>
          </a:xfrm>
          <a:prstGeom prst="rect">
            <a:avLst/>
          </a:prstGeom>
          <a:solidFill>
            <a:srgbClr val="1A8FBF"/>
          </a:solidFill>
          <a:ln/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4920" y="1371600"/>
            <a:ext cx="329184" cy="329184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5532120" y="13258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可点击 HTML 线框图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532120" y="16184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3-8 个核心页面，灰度交互原型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846320" y="2331720"/>
            <a:ext cx="384048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846320" y="2331720"/>
            <a:ext cx="64008" cy="914400"/>
          </a:xfrm>
          <a:prstGeom prst="rect">
            <a:avLst/>
          </a:prstGeom>
          <a:solidFill>
            <a:srgbClr val="1A8FBF"/>
          </a:solidFill>
          <a:ln/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2468880"/>
            <a:ext cx="329184" cy="329184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5532120" y="24231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多渠道分发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5532120" y="27157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本地文件 / 飞书 / GitHub PR / 墨刀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4846320" y="3429000"/>
            <a:ext cx="384048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4846320" y="3429000"/>
            <a:ext cx="64008" cy="914400"/>
          </a:xfrm>
          <a:prstGeom prst="rect">
            <a:avLst/>
          </a:prstGeom>
          <a:solidFill>
            <a:srgbClr val="1A8FBF"/>
          </a:solidFill>
          <a:ln/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3566160"/>
            <a:ext cx="329184" cy="32918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5532120" y="3520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质量自检清单</a:t>
            </a:r>
            <a:endParaRPr lang="en-US" sz="1200" dirty="0"/>
          </a:p>
        </p:txBody>
      </p:sp>
      <p:sp>
        <p:nvSpPr>
          <p:cNvPr id="31" name="Text 26"/>
          <p:cNvSpPr/>
          <p:nvPr/>
        </p:nvSpPr>
        <p:spPr>
          <a:xfrm>
            <a:off x="5532120" y="381304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项结构完整性检查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阶段 3：高保真原型设计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09728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188720"/>
            <a:ext cx="246888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188720"/>
            <a:ext cx="2468880" cy="640080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6" name="Shape 4"/>
          <p:cNvSpPr/>
          <p:nvPr/>
        </p:nvSpPr>
        <p:spPr>
          <a:xfrm>
            <a:off x="1508760" y="1325880"/>
            <a:ext cx="548640" cy="548640"/>
          </a:xfrm>
          <a:prstGeom prst="ellipse">
            <a:avLst/>
          </a:prstGeom>
          <a:solidFill>
            <a:srgbClr val="FFFFFF">
              <a:alpha val="80000"/>
            </a:srgbClr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7632" y="1417320"/>
            <a:ext cx="310896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19659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科技蓝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48640" y="22860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Blue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85800" y="26517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 / SaaS / AI / 效率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337560" y="1188720"/>
            <a:ext cx="246888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337560" y="1188720"/>
            <a:ext cx="2468880" cy="64008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3" name="Shape 10"/>
          <p:cNvSpPr/>
          <p:nvPr/>
        </p:nvSpPr>
        <p:spPr>
          <a:xfrm>
            <a:off x="4297680" y="1325880"/>
            <a:ext cx="548640" cy="548640"/>
          </a:xfrm>
          <a:prstGeom prst="ellipse">
            <a:avLst/>
          </a:prstGeom>
          <a:solidFill>
            <a:srgbClr val="FFFFFF">
              <a:alpha val="80000"/>
            </a:srgbClr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1417320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337560" y="19659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自然绿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3337560" y="22860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 Green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3474720" y="26517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健康 / 社区 / 运动 / 环保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126480" y="1188720"/>
            <a:ext cx="246888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126480" y="1188720"/>
            <a:ext cx="2468880" cy="6400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0" name="Shape 16"/>
          <p:cNvSpPr/>
          <p:nvPr/>
        </p:nvSpPr>
        <p:spPr>
          <a:xfrm>
            <a:off x="7086600" y="1325880"/>
            <a:ext cx="548640" cy="548640"/>
          </a:xfrm>
          <a:prstGeom prst="ellipse">
            <a:avLst/>
          </a:prstGeom>
          <a:solidFill>
            <a:srgbClr val="FFFFFF">
              <a:alpha val="80000"/>
            </a:srgbClr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5472" y="1417320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126480" y="19659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优雅紫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6126480" y="22860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Elegant Purple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6263640" y="26517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创意 / 社交 / 娱乐 / 媒体</a:t>
            </a:r>
            <a:endParaRPr lang="en-US" sz="1000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840480"/>
            <a:ext cx="201168" cy="201168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005840" y="382219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灰度 → 品牌配色</a:t>
            </a:r>
            <a:endParaRPr lang="en-US" sz="100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3840480"/>
            <a:ext cx="201168" cy="201168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3108960" y="382219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文字占位 → Lucide Icons</a:t>
            </a:r>
            <a:endParaRPr lang="en-US" sz="1000" dirty="0"/>
          </a:p>
        </p:txBody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840480"/>
            <a:ext cx="201168" cy="201168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5212080" y="382219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静态 → 入场动画 + 悬停效果</a:t>
            </a:r>
            <a:endParaRPr lang="en-US" sz="1000" dirty="0"/>
          </a:p>
        </p:txBody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40880" y="3840480"/>
            <a:ext cx="201168" cy="201168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7315200" y="382219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可导出墨刀用于评审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阶段 4+5：架构设计与任务拆分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09728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234440"/>
            <a:ext cx="393192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234440"/>
            <a:ext cx="64008" cy="338328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71600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43000" y="13716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 Agent</a:t>
            </a:r>
            <a:endParaRPr lang="en-US" sz="14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20240"/>
            <a:ext cx="182880" cy="1828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19019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技术栈选型 + 选型理由</a:t>
            </a:r>
            <a:endParaRPr lang="en-US" sz="10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04288"/>
            <a:ext cx="182880" cy="18288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05840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系统架构图（Mermaid）</a:t>
            </a:r>
            <a:endParaRPr lang="en-US" sz="10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688336"/>
            <a:ext cx="182880" cy="18288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05840" y="26700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数据模型</a:t>
            </a:r>
            <a:endParaRPr lang="en-US" sz="10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3072384"/>
            <a:ext cx="182880" cy="18288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005840" y="305409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RESTful API 设计</a:t>
            </a:r>
            <a:endParaRPr lang="en-US" sz="1000" dirty="0"/>
          </a:p>
        </p:txBody>
      </p:sp>
      <p:pic>
        <p:nvPicPr>
          <p:cNvPr id="1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456432"/>
            <a:ext cx="182880" cy="182880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1005840" y="343814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部署拓扑 + 成本估算</a:t>
            </a:r>
            <a:endParaRPr lang="en-US" sz="1000" dirty="0"/>
          </a:p>
        </p:txBody>
      </p:sp>
      <p:pic>
        <p:nvPicPr>
          <p:cNvPr id="1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3840480"/>
            <a:ext cx="182880" cy="182880"/>
          </a:xfrm>
          <a:prstGeom prst="rect">
            <a:avLst/>
          </a:prstGeom>
        </p:spPr>
      </p:pic>
      <p:sp>
        <p:nvSpPr>
          <p:cNvPr id="19" name="Text 10"/>
          <p:cNvSpPr/>
          <p:nvPr/>
        </p:nvSpPr>
        <p:spPr>
          <a:xfrm>
            <a:off x="1005840" y="38221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安全设计（OWASP Top 10）</a:t>
            </a:r>
            <a:endParaRPr lang="en-US" sz="1000" dirty="0"/>
          </a:p>
        </p:txBody>
      </p:sp>
      <p:sp>
        <p:nvSpPr>
          <p:cNvPr id="20" name="Shape 11"/>
          <p:cNvSpPr/>
          <p:nvPr/>
        </p:nvSpPr>
        <p:spPr>
          <a:xfrm>
            <a:off x="4846320" y="1234440"/>
            <a:ext cx="384048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2"/>
          <p:cNvSpPr/>
          <p:nvPr/>
        </p:nvSpPr>
        <p:spPr>
          <a:xfrm>
            <a:off x="4846320" y="1234440"/>
            <a:ext cx="64008" cy="3383280"/>
          </a:xfrm>
          <a:prstGeom prst="rect">
            <a:avLst/>
          </a:prstGeom>
          <a:solidFill>
            <a:srgbClr val="1A8FBF"/>
          </a:solidFill>
          <a:ln/>
        </p:spPr>
      </p:sp>
      <p:pic>
        <p:nvPicPr>
          <p:cNvPr id="2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74920" y="1371600"/>
            <a:ext cx="329184" cy="329184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5532120" y="1371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requirement-to-issues</a:t>
            </a:r>
            <a:endParaRPr lang="en-US" sz="1400" dirty="0"/>
          </a:p>
        </p:txBody>
      </p:sp>
      <p:sp>
        <p:nvSpPr>
          <p:cNvPr id="24" name="Text 14"/>
          <p:cNvSpPr/>
          <p:nvPr/>
        </p:nvSpPr>
        <p:spPr>
          <a:xfrm>
            <a:off x="5212080" y="19202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📦 模块 Epic（P0, 3 个功能点）</a:t>
            </a:r>
            <a:endParaRPr lang="en-US" sz="1000" dirty="0"/>
          </a:p>
        </p:txBody>
      </p:sp>
      <p:sp>
        <p:nvSpPr>
          <p:cNvPr id="25" name="Text 15"/>
          <p:cNvSpPr/>
          <p:nvPr/>
        </p:nvSpPr>
        <p:spPr>
          <a:xfrm>
            <a:off x="5486400" y="2240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功能点 Task A（P0）</a:t>
            </a:r>
            <a:endParaRPr lang="en-US" sz="1000" dirty="0"/>
          </a:p>
        </p:txBody>
      </p:sp>
      <p:sp>
        <p:nvSpPr>
          <p:cNvPr id="26" name="Text 16"/>
          <p:cNvSpPr/>
          <p:nvPr/>
        </p:nvSpPr>
        <p:spPr>
          <a:xfrm>
            <a:off x="5486400" y="2560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功能点 Task B（P0）</a:t>
            </a:r>
            <a:endParaRPr lang="en-US" sz="1000" dirty="0"/>
          </a:p>
        </p:txBody>
      </p:sp>
      <p:sp>
        <p:nvSpPr>
          <p:cNvPr id="27" name="Text 17"/>
          <p:cNvSpPr/>
          <p:nvPr/>
        </p:nvSpPr>
        <p:spPr>
          <a:xfrm>
            <a:off x="5486400" y="2880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功能点 Task C（P1）</a:t>
            </a:r>
            <a:endParaRPr lang="en-US" sz="1000" dirty="0"/>
          </a:p>
        </p:txBody>
      </p:sp>
      <p:sp>
        <p:nvSpPr>
          <p:cNvPr id="28" name="Text 18"/>
          <p:cNvSpPr/>
          <p:nvPr/>
        </p:nvSpPr>
        <p:spPr>
          <a:xfrm>
            <a:off x="5212080" y="3200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📦 模块 Epic（P1, 2 个功能点）</a:t>
            </a:r>
            <a:endParaRPr lang="en-US" sz="1000" dirty="0"/>
          </a:p>
        </p:txBody>
      </p:sp>
      <p:sp>
        <p:nvSpPr>
          <p:cNvPr id="29" name="Text 19"/>
          <p:cNvSpPr/>
          <p:nvPr/>
        </p:nvSpPr>
        <p:spPr>
          <a:xfrm>
            <a:off x="5486400" y="3520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功能点 Task D（P1）</a:t>
            </a:r>
            <a:endParaRPr lang="en-US" sz="1000" dirty="0"/>
          </a:p>
        </p:txBody>
      </p:sp>
      <p:sp>
        <p:nvSpPr>
          <p:cNvPr id="30" name="Text 20"/>
          <p:cNvSpPr/>
          <p:nvPr/>
        </p:nvSpPr>
        <p:spPr>
          <a:xfrm>
            <a:off x="5486400" y="38404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功能点 Task E（P2）</a:t>
            </a:r>
            <a:endParaRPr lang="en-US" sz="1000" dirty="0"/>
          </a:p>
        </p:txBody>
      </p:sp>
      <p:sp>
        <p:nvSpPr>
          <p:cNvPr id="31" name="Text 21"/>
          <p:cNvSpPr/>
          <p:nvPr/>
        </p:nvSpPr>
        <p:spPr>
          <a:xfrm>
            <a:off x="5074920" y="41148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自动关联: 用户故事 · 架构引用 · 里程碑 · 模块依赖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qifenghou/Codes/PM-Project/.tmp/cover-bg.jpg">    </p:cNvPr>
          <p:cNvPicPr>
            <a:picLocks noChangeAspect="1"/>
          </p:cNvPicPr>
          <p:nvPr/>
        </p:nvPicPr>
        <p:blipFill>
          <a:blip r:embed="rId1">
            <a:alphaModFix amt="3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>
              <a:alpha val="7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全链路协作生态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457200" y="868680"/>
            <a:ext cx="109728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" name="Shape 3"/>
          <p:cNvSpPr/>
          <p:nvPr/>
        </p:nvSpPr>
        <p:spPr>
          <a:xfrm>
            <a:off x="3429000" y="1645920"/>
            <a:ext cx="2286000" cy="2286000"/>
          </a:xfrm>
          <a:prstGeom prst="ellipse">
            <a:avLst/>
          </a:prstGeom>
          <a:solidFill>
            <a:srgbClr val="0D4F8B">
              <a:alpha val="80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3657600" y="1874520"/>
            <a:ext cx="1828800" cy="1828800"/>
          </a:xfrm>
          <a:prstGeom prst="ellipse">
            <a:avLst/>
          </a:prstGeom>
          <a:solidFill>
            <a:srgbClr val="0D4F8B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2286000"/>
            <a:ext cx="411480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657600" y="27432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1234440" y="1691640"/>
            <a:ext cx="3337560" cy="1097280"/>
          </a:xfrm>
          <a:prstGeom prst="line">
            <a:avLst/>
          </a:prstGeom>
          <a:noFill/>
          <a:ln w="19050">
            <a:solidFill>
              <a:srgbClr val="64748B"/>
            </a:solidFill>
            <a:prstDash val="dash"/>
          </a:ln>
        </p:spPr>
      </p:sp>
      <p:sp>
        <p:nvSpPr>
          <p:cNvPr id="11" name="Shape 7"/>
          <p:cNvSpPr/>
          <p:nvPr/>
        </p:nvSpPr>
        <p:spPr>
          <a:xfrm>
            <a:off x="457200" y="1371600"/>
            <a:ext cx="1554480" cy="822960"/>
          </a:xfrm>
          <a:prstGeom prst="ellipse">
            <a:avLst/>
          </a:prstGeom>
          <a:solidFill>
            <a:srgbClr val="1A8FBF">
              <a:alpha val="20000"/>
            </a:srgbClr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536192"/>
            <a:ext cx="329184" cy="32918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0120" y="1463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飞书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960120" y="175564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查重 · 同步 · 知识库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 flipH="1">
            <a:off x="4572000" y="1691640"/>
            <a:ext cx="3063240" cy="1097280"/>
          </a:xfrm>
          <a:prstGeom prst="line">
            <a:avLst/>
          </a:prstGeom>
          <a:noFill/>
          <a:ln w="19050">
            <a:solidFill>
              <a:srgbClr val="64748B"/>
            </a:solidFill>
            <a:prstDash val="dash"/>
          </a:ln>
        </p:spPr>
      </p:sp>
      <p:sp>
        <p:nvSpPr>
          <p:cNvPr id="16" name="Shape 11"/>
          <p:cNvSpPr/>
          <p:nvPr/>
        </p:nvSpPr>
        <p:spPr>
          <a:xfrm>
            <a:off x="6858000" y="1371600"/>
            <a:ext cx="1554480" cy="822960"/>
          </a:xfrm>
          <a:prstGeom prst="ellipse">
            <a:avLst/>
          </a:prstGeom>
          <a:solidFill>
            <a:srgbClr val="FFFFFF">
              <a:alpha val="20000"/>
            </a:srgbClr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0" y="1536192"/>
            <a:ext cx="329184" cy="32918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7360920" y="1463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7360920" y="175564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· Issue · 审查</a:t>
            </a:r>
            <a:endParaRPr lang="en-US" sz="900" dirty="0"/>
          </a:p>
        </p:txBody>
      </p:sp>
      <p:sp>
        <p:nvSpPr>
          <p:cNvPr id="20" name="Shape 14"/>
          <p:cNvSpPr/>
          <p:nvPr/>
        </p:nvSpPr>
        <p:spPr>
          <a:xfrm>
            <a:off x="4434840" y="2788920"/>
            <a:ext cx="137160" cy="1645920"/>
          </a:xfrm>
          <a:prstGeom prst="line">
            <a:avLst/>
          </a:prstGeom>
          <a:noFill/>
          <a:ln w="19050">
            <a:solidFill>
              <a:srgbClr val="64748B"/>
            </a:solidFill>
            <a:prstDash val="dash"/>
          </a:ln>
        </p:spPr>
      </p:sp>
      <p:sp>
        <p:nvSpPr>
          <p:cNvPr id="21" name="Shape 15"/>
          <p:cNvSpPr/>
          <p:nvPr/>
        </p:nvSpPr>
        <p:spPr>
          <a:xfrm>
            <a:off x="3657600" y="4114800"/>
            <a:ext cx="1554480" cy="822960"/>
          </a:xfrm>
          <a:prstGeom prst="ellipse">
            <a:avLst/>
          </a:prstGeom>
          <a:solidFill>
            <a:srgbClr val="7C3AED">
              <a:alpha val="20000"/>
            </a:srgbClr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4760" y="4279392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160520" y="4206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墨刀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4160520" y="449884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原型评审 · 团队协作</a:t>
            </a:r>
            <a:endParaRPr lang="en-US" sz="900" dirty="0"/>
          </a:p>
        </p:txBody>
      </p:sp>
      <p:sp>
        <p:nvSpPr>
          <p:cNvPr id="25" name="Text 18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A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产品经理无需切换工具，在一个对话窗口里完成全部操作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客户价值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09728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234440"/>
            <a:ext cx="384048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234440"/>
            <a:ext cx="64008" cy="15544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min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3152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立项评估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21488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灵感到决策报告，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从数天压缩到 10 分钟</a:t>
            </a:r>
            <a:endParaRPr lang="en-US" sz="10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0" y="1508760"/>
            <a:ext cx="411480" cy="4114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846320" y="1234440"/>
            <a:ext cx="384048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846320" y="1234440"/>
            <a:ext cx="64008" cy="1554480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12" name="Text 9"/>
          <p:cNvSpPr/>
          <p:nvPr/>
        </p:nvSpPr>
        <p:spPr>
          <a:xfrm>
            <a:off x="5120640" y="13716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4F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自动生成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51206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结构化 PRD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120640" y="21488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章节 + 原型图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一次对话完成</a:t>
            </a:r>
            <a:endParaRPr lang="en-US" sz="100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1508760"/>
            <a:ext cx="411480" cy="41148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457200" y="3246120"/>
            <a:ext cx="384048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57200" y="3246120"/>
            <a:ext cx="64008" cy="15544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8" name="Text 14"/>
          <p:cNvSpPr/>
          <p:nvPr/>
        </p:nvSpPr>
        <p:spPr>
          <a:xfrm>
            <a:off x="731520" y="33832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C3A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即时交付</a:t>
            </a:r>
            <a:endParaRPr lang="en-US" sz="2800" dirty="0"/>
          </a:p>
        </p:txBody>
      </p:sp>
      <p:sp>
        <p:nvSpPr>
          <p:cNvPr id="19" name="Text 15"/>
          <p:cNvSpPr/>
          <p:nvPr/>
        </p:nvSpPr>
        <p:spPr>
          <a:xfrm>
            <a:off x="731520" y="3886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高保真原型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731520" y="41605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无需等待设计师，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一键从低保真升级</a:t>
            </a:r>
            <a:endParaRPr lang="en-US" sz="1000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3520440"/>
            <a:ext cx="411480" cy="411480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4846320" y="3246120"/>
            <a:ext cx="384048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4846320" y="3246120"/>
            <a:ext cx="64008" cy="15544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4" name="Text 19"/>
          <p:cNvSpPr/>
          <p:nvPr/>
        </p:nvSpPr>
        <p:spPr>
          <a:xfrm>
            <a:off x="5120640" y="33832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一键拆分</a:t>
            </a:r>
            <a:endParaRPr lang="en-US" sz="2800" dirty="0"/>
          </a:p>
        </p:txBody>
      </p:sp>
      <p:sp>
        <p:nvSpPr>
          <p:cNvPr id="25" name="Text 20"/>
          <p:cNvSpPr/>
          <p:nvPr/>
        </p:nvSpPr>
        <p:spPr>
          <a:xfrm>
            <a:off x="5120640" y="3886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Issues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5120640" y="41605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模块→Task 两级拆分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自动关联上下文</a:t>
            </a:r>
            <a:endParaRPr lang="en-US" sz="1000" dirty="0"/>
          </a:p>
        </p:txBody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352044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版本管理：全链路追踪闭环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09728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25780" y="1097280"/>
            <a:ext cx="123444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25780" y="1097280"/>
            <a:ext cx="123444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525780" y="120700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PM-assistant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25780" y="150876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迭代检测</a:t>
            </a:r>
            <a:endParaRPr lang="en-US" sz="8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9364" y="1417320"/>
            <a:ext cx="164592" cy="16459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897380" y="1097280"/>
            <a:ext cx="123444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897380" y="1097280"/>
            <a:ext cx="1234440" cy="54864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11" name="Text 8"/>
          <p:cNvSpPr/>
          <p:nvPr/>
        </p:nvSpPr>
        <p:spPr>
          <a:xfrm>
            <a:off x="1897380" y="120700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requirement-doc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897380" y="150876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PRD 版本递增</a:t>
            </a:r>
            <a:endParaRPr lang="en-US" sz="8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0964" y="1417320"/>
            <a:ext cx="164592" cy="164592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3268980" y="1097280"/>
            <a:ext cx="123444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268980" y="1097280"/>
            <a:ext cx="1234440" cy="54864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16" name="Text 12"/>
          <p:cNvSpPr/>
          <p:nvPr/>
        </p:nvSpPr>
        <p:spPr>
          <a:xfrm>
            <a:off x="3268980" y="120700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gate-review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3268980" y="150876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1 版本校验</a:t>
            </a:r>
            <a:endParaRPr lang="en-US" sz="80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2564" y="1417320"/>
            <a:ext cx="164592" cy="164592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4640580" y="1097280"/>
            <a:ext cx="123444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640580" y="1097280"/>
            <a:ext cx="123444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1" name="Text 16"/>
          <p:cNvSpPr/>
          <p:nvPr/>
        </p:nvSpPr>
        <p:spPr>
          <a:xfrm>
            <a:off x="4640580" y="120700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4640580" y="150876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架构版本 + 关联 PRD</a:t>
            </a:r>
            <a:endParaRPr lang="en-US" sz="80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4164" y="1417320"/>
            <a:ext cx="164592" cy="164592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6012180" y="1097280"/>
            <a:ext cx="123444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6012180" y="1097280"/>
            <a:ext cx="1234440" cy="54864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26" name="Text 20"/>
          <p:cNvSpPr/>
          <p:nvPr/>
        </p:nvSpPr>
        <p:spPr>
          <a:xfrm>
            <a:off x="6012180" y="120700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gate-review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6012180" y="150876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2 版本校验</a:t>
            </a:r>
            <a:endParaRPr lang="en-US" sz="80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5764" y="1417320"/>
            <a:ext cx="164592" cy="164592"/>
          </a:xfrm>
          <a:prstGeom prst="rect">
            <a:avLst/>
          </a:prstGeom>
        </p:spPr>
      </p:pic>
      <p:sp>
        <p:nvSpPr>
          <p:cNvPr id="29" name="Shape 22"/>
          <p:cNvSpPr/>
          <p:nvPr/>
        </p:nvSpPr>
        <p:spPr>
          <a:xfrm>
            <a:off x="7383780" y="1097280"/>
            <a:ext cx="123444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7383780" y="1097280"/>
            <a:ext cx="1234440" cy="54864"/>
          </a:xfrm>
          <a:prstGeom prst="rect">
            <a:avLst/>
          </a:prstGeom>
          <a:solidFill>
            <a:srgbClr val="1A8FBF"/>
          </a:solidFill>
          <a:ln/>
        </p:spPr>
      </p:sp>
      <p:sp>
        <p:nvSpPr>
          <p:cNvPr id="31" name="Text 24"/>
          <p:cNvSpPr/>
          <p:nvPr/>
        </p:nvSpPr>
        <p:spPr>
          <a:xfrm>
            <a:off x="7383780" y="120700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req-to-issues</a:t>
            </a:r>
            <a:endParaRPr lang="en-US" sz="900" dirty="0"/>
          </a:p>
        </p:txBody>
      </p:sp>
      <p:sp>
        <p:nvSpPr>
          <p:cNvPr id="32" name="Text 25"/>
          <p:cNvSpPr/>
          <p:nvPr/>
        </p:nvSpPr>
        <p:spPr>
          <a:xfrm>
            <a:off x="7383780" y="150876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版本溯源写入</a:t>
            </a:r>
            <a:endParaRPr lang="en-US" sz="800" dirty="0"/>
          </a:p>
        </p:txBody>
      </p:sp>
      <p:sp>
        <p:nvSpPr>
          <p:cNvPr id="33" name="Shape 26"/>
          <p:cNvSpPr/>
          <p:nvPr/>
        </p:nvSpPr>
        <p:spPr>
          <a:xfrm>
            <a:off x="457200" y="2240280"/>
            <a:ext cx="3931920" cy="2468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457200" y="2240280"/>
            <a:ext cx="64008" cy="2468880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35" name="Text 28"/>
          <p:cNvSpPr/>
          <p:nvPr/>
        </p:nvSpPr>
        <p:spPr>
          <a:xfrm>
            <a:off x="731520" y="23317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版本号规则（Semantic Versioning）</a:t>
            </a:r>
            <a:endParaRPr lang="en-US" sz="1200" dirty="0"/>
          </a:p>
        </p:txBody>
      </p:sp>
      <p:sp>
        <p:nvSpPr>
          <p:cNvPr id="36" name="Shape 29"/>
          <p:cNvSpPr/>
          <p:nvPr/>
        </p:nvSpPr>
        <p:spPr>
          <a:xfrm>
            <a:off x="777240" y="2788920"/>
            <a:ext cx="201168" cy="201168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37" name="Text 30"/>
          <p:cNvSpPr/>
          <p:nvPr/>
        </p:nvSpPr>
        <p:spPr>
          <a:xfrm>
            <a:off x="1051560" y="27432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  v1.0.X</a:t>
            </a:r>
            <a:endParaRPr lang="en-US" sz="1100" dirty="0"/>
          </a:p>
        </p:txBody>
      </p:sp>
      <p:sp>
        <p:nvSpPr>
          <p:cNvPr id="38" name="Text 31"/>
          <p:cNvSpPr/>
          <p:nvPr/>
        </p:nvSpPr>
        <p:spPr>
          <a:xfrm>
            <a:off x="1051560" y="299008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措辞修正、格式调整</a:t>
            </a:r>
            <a:endParaRPr lang="en-US" sz="900" dirty="0"/>
          </a:p>
        </p:txBody>
      </p:sp>
      <p:sp>
        <p:nvSpPr>
          <p:cNvPr id="39" name="Shape 32"/>
          <p:cNvSpPr/>
          <p:nvPr/>
        </p:nvSpPr>
        <p:spPr>
          <a:xfrm>
            <a:off x="777240" y="3337560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0" name="Text 33"/>
          <p:cNvSpPr/>
          <p:nvPr/>
        </p:nvSpPr>
        <p:spPr>
          <a:xfrm>
            <a:off x="1051560" y="329184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  v1.X.0</a:t>
            </a:r>
            <a:endParaRPr lang="en-US" sz="1100" dirty="0"/>
          </a:p>
        </p:txBody>
      </p:sp>
      <p:sp>
        <p:nvSpPr>
          <p:cNvPr id="41" name="Text 34"/>
          <p:cNvSpPr/>
          <p:nvPr/>
        </p:nvSpPr>
        <p:spPr>
          <a:xfrm>
            <a:off x="1051560" y="353872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新增/修改功能、调整优先级</a:t>
            </a:r>
            <a:endParaRPr lang="en-US" sz="900" dirty="0"/>
          </a:p>
        </p:txBody>
      </p:sp>
      <p:sp>
        <p:nvSpPr>
          <p:cNvPr id="42" name="Shape 35"/>
          <p:cNvSpPr/>
          <p:nvPr/>
        </p:nvSpPr>
        <p:spPr>
          <a:xfrm>
            <a:off x="777240" y="3886200"/>
            <a:ext cx="201168" cy="201168"/>
          </a:xfrm>
          <a:prstGeom prst="ellipse">
            <a:avLst/>
          </a:prstGeom>
          <a:solidFill>
            <a:srgbClr val="E11D48"/>
          </a:solidFill>
          <a:ln/>
        </p:spPr>
      </p:sp>
      <p:sp>
        <p:nvSpPr>
          <p:cNvPr id="43" name="Text 36"/>
          <p:cNvSpPr/>
          <p:nvPr/>
        </p:nvSpPr>
        <p:spPr>
          <a:xfrm>
            <a:off x="1051560" y="38404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 vX.0.0</a:t>
            </a:r>
            <a:endParaRPr lang="en-US" sz="1100" dirty="0"/>
          </a:p>
        </p:txBody>
      </p:sp>
      <p:sp>
        <p:nvSpPr>
          <p:cNvPr id="44" name="Text 37"/>
          <p:cNvSpPr/>
          <p:nvPr/>
        </p:nvSpPr>
        <p:spPr>
          <a:xfrm>
            <a:off x="1051560" y="40873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产品方向重大调整、范围变更</a:t>
            </a:r>
            <a:endParaRPr lang="en-US" sz="900" dirty="0"/>
          </a:p>
        </p:txBody>
      </p:sp>
      <p:sp>
        <p:nvSpPr>
          <p:cNvPr id="45" name="Shape 38"/>
          <p:cNvSpPr/>
          <p:nvPr/>
        </p:nvSpPr>
        <p:spPr>
          <a:xfrm>
            <a:off x="4846320" y="2240280"/>
            <a:ext cx="3840480" cy="2468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46" name="Shape 39"/>
          <p:cNvSpPr/>
          <p:nvPr/>
        </p:nvSpPr>
        <p:spPr>
          <a:xfrm>
            <a:off x="4846320" y="2240280"/>
            <a:ext cx="64008" cy="246888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47" name="Text 40"/>
          <p:cNvSpPr/>
          <p:nvPr/>
        </p:nvSpPr>
        <p:spPr>
          <a:xfrm>
            <a:off x="5120640" y="23317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版本校验与追溯</a:t>
            </a:r>
            <a:endParaRPr lang="en-US" sz="1200" dirty="0"/>
          </a:p>
        </p:txBody>
      </p:sp>
      <p:pic>
        <p:nvPicPr>
          <p:cNvPr id="4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0640" y="2761488"/>
            <a:ext cx="182880" cy="182880"/>
          </a:xfrm>
          <a:prstGeom prst="rect">
            <a:avLst/>
          </a:prstGeom>
        </p:spPr>
      </p:pic>
      <p:sp>
        <p:nvSpPr>
          <p:cNvPr id="49" name="Text 41"/>
          <p:cNvSpPr/>
          <p:nvPr/>
        </p:nvSpPr>
        <p:spPr>
          <a:xfrm>
            <a:off x="5394960" y="2743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1：PRD 文档头 vs §11 变更记录一致</a:t>
            </a:r>
            <a:endParaRPr lang="en-US" sz="900" dirty="0"/>
          </a:p>
        </p:txBody>
      </p:sp>
      <p:pic>
        <p:nvPicPr>
          <p:cNvPr id="5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20640" y="3127248"/>
            <a:ext cx="182880" cy="182880"/>
          </a:xfrm>
          <a:prstGeom prst="rect">
            <a:avLst/>
          </a:prstGeom>
        </p:spPr>
      </p:pic>
      <p:sp>
        <p:nvSpPr>
          <p:cNvPr id="51" name="Text 42"/>
          <p:cNvSpPr/>
          <p:nvPr/>
        </p:nvSpPr>
        <p:spPr>
          <a:xfrm>
            <a:off x="5394960" y="3108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2：「关联 PRD」含精确版本号</a:t>
            </a:r>
            <a:endParaRPr lang="en-US" sz="900" dirty="0"/>
          </a:p>
        </p:txBody>
      </p:sp>
      <p:pic>
        <p:nvPicPr>
          <p:cNvPr id="5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20640" y="3493008"/>
            <a:ext cx="182880" cy="182880"/>
          </a:xfrm>
          <a:prstGeom prst="rect">
            <a:avLst/>
          </a:prstGeom>
        </p:spPr>
      </p:pic>
      <p:sp>
        <p:nvSpPr>
          <p:cNvPr id="53" name="Text 43"/>
          <p:cNvSpPr/>
          <p:nvPr/>
        </p:nvSpPr>
        <p:spPr>
          <a:xfrm>
            <a:off x="5394960" y="3474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2：关联版本号与实际 PRD 一致</a:t>
            </a:r>
            <a:endParaRPr lang="en-US" sz="900" dirty="0"/>
          </a:p>
        </p:txBody>
      </p:sp>
      <p:pic>
        <p:nvPicPr>
          <p:cNvPr id="5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20640" y="3858768"/>
            <a:ext cx="182880" cy="182880"/>
          </a:xfrm>
          <a:prstGeom prst="rect">
            <a:avLst/>
          </a:prstGeom>
        </p:spPr>
      </p:pic>
      <p:sp>
        <p:nvSpPr>
          <p:cNvPr id="55" name="Text 44"/>
          <p:cNvSpPr/>
          <p:nvPr/>
        </p:nvSpPr>
        <p:spPr>
          <a:xfrm>
            <a:off x="5394960" y="3840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Issue：版本来源 PRD vX | Arch vX</a:t>
            </a:r>
            <a:endParaRPr lang="en-US" sz="900" dirty="0"/>
          </a:p>
        </p:txBody>
      </p:sp>
      <p:pic>
        <p:nvPicPr>
          <p:cNvPr id="56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20640" y="4224528"/>
            <a:ext cx="182880" cy="182880"/>
          </a:xfrm>
          <a:prstGeom prst="rect">
            <a:avLst/>
          </a:prstGeom>
        </p:spPr>
      </p:pic>
      <p:sp>
        <p:nvSpPr>
          <p:cNvPr id="57" name="Text 45"/>
          <p:cNvSpPr/>
          <p:nvPr/>
        </p:nvSpPr>
        <p:spPr>
          <a:xfrm>
            <a:off x="5394960" y="4206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Git：分支名 + Commit 嵌入版本号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附录 A：Agent 清单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09728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是角色化协作单元，负责路由、分析、评审、设计等任务。每个 Agent 拥有独立职责和触发条件。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  <a:gridCol w="32004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名称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定位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典型触发场景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PM-assistant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立项前验证与需求过滤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「我有一个产品灵感…」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 Analyst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需求分析与灵感验证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「帮我分析这个需求可行性」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高保真原型设计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「将线框图升级为高保真」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技术架构设计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「根据 PRD 设计架构」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gate-review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Stage-Gate 评审门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「对 PRD 做评审」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post-launch-review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上线复盘与迭代决策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「复盘上线数据表现」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任务上下文研究与路由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每次任务前自动调用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new-employee-mentor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统一入口与任务分发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不确定用哪个工具时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code-review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代码评审与质量检查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「审查这段代码」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code-debug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报错排查与修复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「这个报错怎么修」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code-testing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测试生成与覆盖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「写单元测试」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code-docs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文档生成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「生成 README」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pr-review-submit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 审查提交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「提交审查意见到 PR」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ui-testing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UI 自动化测试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「用 Playwright 测试」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附录 B：Skill 清单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09728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是领域知识沉淀，包含方法论、模板、参考文档和执行流程。被 Agent 按需调用。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017520"/>
                <a:gridCol w="32004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 名称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定位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典型触发场景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requirement-doc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 与低保真原型生成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「生成需求文档」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requirement-to-issues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 拆分为 GitHub Issues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「拆需求到 Issue」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prototype-design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高保真原型设计规范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「生成高保真原型」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modao-prototype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墨刀原型导入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「导入墨刀」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架构设计模板与方法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「设计技术方案」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coding-standards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全栈编码规范集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「查询编码规范」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code-review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审查流程标准化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「代码审查」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code-standards-check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规范合规性扫描与报告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「检查代码规范」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github-publish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 提交与发布工作流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「提交到 GitHub」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feishu-docs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飞书文档查重、读写与同步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「查飞书文档」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microservices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微服务设计、治理与部署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「微服务架构」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playwright-testing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Playwright UI 测试规范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「E2E 测试」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security-audit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OWASP 安全专项审查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「安全审计」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研发提效 Agent 已进入深水区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09728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3268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讨论重心，正在从工具与模型，转向与软件工程的深度结合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325880"/>
            <a:ext cx="64008" cy="65836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490472"/>
            <a:ext cx="7635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的下一阶段差异化，不在谁能多接几个工具、谁能换更强的模型，而在谁能把需求、设计、开发、评审与治理真正编进工程系统。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38862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2240280"/>
            <a:ext cx="64008" cy="1051560"/>
          </a:xfrm>
          <a:prstGeom prst="rect">
            <a:avLst/>
          </a:prstGeom>
          <a:solidFill>
            <a:srgbClr val="0D4F8B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404872"/>
            <a:ext cx="310896" cy="31089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097280" y="235915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模型能力进入标配区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097280" y="265176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基础写作、生成、调用能力正在趋同，真正的壁垒开始从模型参数，迁移到工程编排能力。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800600" y="2240280"/>
            <a:ext cx="38862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800600" y="2240280"/>
            <a:ext cx="64008" cy="1051560"/>
          </a:xfrm>
          <a:prstGeom prst="rect">
            <a:avLst/>
          </a:prstGeom>
          <a:solidFill>
            <a:srgbClr val="1A8FBF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2404872"/>
            <a:ext cx="310896" cy="31089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440680" y="235915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核心问题变成流程嵌入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5440680" y="265176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不是让 Agent 单点更聪明，而是让它嵌入需求、架构、任务、测试、发布等真实研发链路。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457200" y="3520440"/>
            <a:ext cx="38862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57200" y="3520440"/>
            <a:ext cx="64008" cy="1051560"/>
          </a:xfrm>
          <a:prstGeom prst="rect">
            <a:avLst/>
          </a:prstGeom>
          <a:solidFill>
            <a:srgbClr val="E11D48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685032"/>
            <a:ext cx="310896" cy="310896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097280" y="363931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生产落地看可靠性治理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1097280" y="393192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可追溯、可回滚、权限边界、审计与质量门槛，正在替代 Demo 效果，成为进入生产环境的关键。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800600" y="3520440"/>
            <a:ext cx="38862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4800600" y="3520440"/>
            <a:ext cx="64008" cy="105156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3685032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440680" y="363931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团队协作成为新主战场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5440680" y="393192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研发提效 Agent 不再只是个人工具，而是要支撑角色分工、版本管理、评审机制与知识沉淀。</a:t>
            </a:r>
            <a:endParaRPr lang="en-US" sz="950" dirty="0"/>
          </a:p>
        </p:txBody>
      </p:sp>
      <p:sp>
        <p:nvSpPr>
          <p:cNvPr id="28" name="Text 22"/>
          <p:cNvSpPr/>
          <p:nvPr/>
        </p:nvSpPr>
        <p:spPr>
          <a:xfrm>
            <a:off x="594360" y="4736592"/>
            <a:ext cx="7955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从这个阶段开始，研发提效 Agent 的讨论对象，已经不只是工具栈和模型栈，而是完整的软件工程方法。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qifenghou/Codes/PM-Project/.tmp/cover-bg.jp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>
              <a:alpha val="65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-914400" y="3200400"/>
            <a:ext cx="2743200" cy="2743200"/>
          </a:xfrm>
          <a:prstGeom prst="ellipse">
            <a:avLst/>
          </a:prstGeom>
          <a:solidFill>
            <a:srgbClr val="0D4F8B">
              <a:alpha val="25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7772400" y="-457200"/>
            <a:ext cx="2286000" cy="2286000"/>
          </a:xfrm>
          <a:prstGeom prst="ellipse">
            <a:avLst/>
          </a:prstGeom>
          <a:solidFill>
            <a:srgbClr val="1A8FBF">
              <a:alpha val="20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0" y="118872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 &amp; A</a:t>
            </a:r>
            <a:endParaRPr lang="en-US" sz="6000" dirty="0"/>
          </a:p>
        </p:txBody>
      </p:sp>
      <p:sp>
        <p:nvSpPr>
          <p:cNvPr id="7" name="Shape 4"/>
          <p:cNvSpPr/>
          <p:nvPr/>
        </p:nvSpPr>
        <p:spPr>
          <a:xfrm>
            <a:off x="3840480" y="2743200"/>
            <a:ext cx="146304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5"/>
          <p:cNvSpPr/>
          <p:nvPr/>
        </p:nvSpPr>
        <p:spPr>
          <a:xfrm>
            <a:off x="0" y="3017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github.com/nickhou1983/PM-Project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0" y="41148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感谢聆听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驱动的产品经理工作台</dc:title>
  <dc:subject>PptxGenJS Presentation</dc:subject>
  <dc:creator>PM-Project</dc:creator>
  <cp:lastModifiedBy>PM-Project</cp:lastModifiedBy>
  <cp:revision>1</cp:revision>
  <dcterms:created xsi:type="dcterms:W3CDTF">2026-04-02T04:28:39Z</dcterms:created>
  <dcterms:modified xsi:type="dcterms:W3CDTF">2026-04-02T04:28:39Z</dcterms:modified>
</cp:coreProperties>
</file>